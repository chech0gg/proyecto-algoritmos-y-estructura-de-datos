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869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150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103120"/>
            <a:ext cx="5943600" cy="5943600"/>
          </a:xfrm>
          <a:prstGeom prst="ellipse">
            <a:avLst/>
          </a:prstGeom>
          <a:solidFill>
            <a:srgbClr val="1E9C89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206240"/>
            <a:ext cx="4754880" cy="4754880"/>
          </a:xfrm>
          <a:prstGeom prst="ellipse">
            <a:avLst/>
          </a:prstGeom>
          <a:solidFill>
            <a:srgbClr val="F2A93B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ACOMPAÑAMIENTO ACADÉMICO</a:t>
            </a:r>
            <a:endParaRPr lang="en-US" sz="40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BIENESTAR ESTUDIANTIL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68680" y="4434840"/>
            <a:ext cx="237744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617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F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Esteban Ruiz   ·   Sergio Andrés Ríos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B5D52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840480" cy="3840480"/>
          </a:xfrm>
          <a:prstGeom prst="ellipse">
            <a:avLst/>
          </a:prstGeom>
          <a:solidFill>
            <a:srgbClr val="1E9C89">
              <a:alpha val="4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65176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8862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</a:t>
            </a:r>
            <a:endParaRPr lang="en-US" sz="2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434840" y="1737360"/>
            <a:ext cx="7223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6302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¿</a:t>
            </a:r>
            <a:r>
              <a:rPr lang="es-CO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" panose="020B0502040204020203" pitchFamily="34" charset="0"/>
                <a:ea typeface="Calibri" panose="020F0502020204030204" pitchFamily="34" charset="0"/>
              </a:rPr>
              <a:t>Cómo diseñar una solución informática que centralice la gestión del acompañamiento académico, permita hacer asignaciones transparentes y compatibles con la disponibilidad real, organice la agenda sin cruces y analice los prerrequisitos para anticipar riesgos académicos?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Light" panose="020B0502040204020203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480560" y="1600200"/>
            <a:ext cx="100584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CFEA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4048"/>
            <a:ext cx="822960" cy="822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91640" y="32004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5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general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2148840"/>
            <a:ext cx="10543032" cy="3566160"/>
          </a:xfrm>
          <a:prstGeom prst="roundRect">
            <a:avLst>
              <a:gd name="adj" fmla="val 3077"/>
            </a:avLst>
          </a:prstGeom>
          <a:solidFill>
            <a:srgbClr val="F7FAF9"/>
          </a:solidFill>
          <a:ln w="12700">
            <a:solidFill>
              <a:srgbClr val="CFEAE3"/>
            </a:solidFill>
            <a:prstDash val="solid"/>
          </a:ln>
          <a:effectLst>
            <a:outerShdw blurRad="127000" dist="38100" dir="5400000" algn="bl" rotWithShape="0">
              <a:srgbClr val="1B3A3A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280160" y="2423160"/>
            <a:ext cx="9601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sistema de gestión de acompañamiento académico que permita registrar estudiantes, monitores, materias y solicitudes; priorizar y asignar casos según reglas verificables; administrar la agenda de atención; y analizar las relaciones de prerrequisitos para apoyar la detección temprana de riesgos académicos.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B5D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2148840"/>
          </a:xfrm>
          <a:prstGeom prst="roundRect">
            <a:avLst>
              <a:gd name="adj" fmla="val 4255"/>
            </a:avLst>
          </a:prstGeom>
          <a:solidFill>
            <a:srgbClr val="F7FAF9"/>
          </a:solidFill>
          <a:ln/>
          <a:effectLst>
            <a:outerShdw blurRad="101600" dist="25400" dir="5400000" algn="bl" rotWithShape="0">
              <a:srgbClr val="1B3A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86000"/>
            <a:ext cx="960120" cy="960120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2423160"/>
            <a:ext cx="685800" cy="685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37560" y="1828800"/>
            <a:ext cx="7955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los datos de estudiantes, monitores, materias, disponibilidades y sesiones.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31520" y="4206240"/>
            <a:ext cx="10698480" cy="2148840"/>
          </a:xfrm>
          <a:prstGeom prst="roundRect">
            <a:avLst>
              <a:gd name="adj" fmla="val 4255"/>
            </a:avLst>
          </a:prstGeom>
          <a:solidFill>
            <a:srgbClr val="CFEAE3"/>
          </a:solidFill>
          <a:ln/>
          <a:effectLst>
            <a:outerShdw blurRad="101600" dist="25400" dir="5400000" algn="bl" rotWithShape="0">
              <a:srgbClr val="1B3A3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51560" y="4800600"/>
            <a:ext cx="960120" cy="960120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51560" y="4800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4937760"/>
            <a:ext cx="685800" cy="6858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37560" y="4343400"/>
            <a:ext cx="7955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las solicitudes y conservar el historial de acompañamiento de cada estudiante.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B5D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2148840"/>
          </a:xfrm>
          <a:prstGeom prst="roundRect">
            <a:avLst>
              <a:gd name="adj" fmla="val 4255"/>
            </a:avLst>
          </a:prstGeom>
          <a:solidFill>
            <a:srgbClr val="F7FAF9"/>
          </a:solidFill>
          <a:ln/>
          <a:effectLst>
            <a:outerShdw blurRad="101600" dist="25400" dir="5400000" algn="bl" rotWithShape="0">
              <a:srgbClr val="1B3A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86000"/>
            <a:ext cx="960120" cy="960120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2423160"/>
            <a:ext cx="685800" cy="685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37560" y="1828800"/>
            <a:ext cx="7955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criterios de prioridad y antigüedad de forma explícita y auditable.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31520" y="4206240"/>
            <a:ext cx="10698480" cy="2148840"/>
          </a:xfrm>
          <a:prstGeom prst="roundRect">
            <a:avLst>
              <a:gd name="adj" fmla="val 4255"/>
            </a:avLst>
          </a:prstGeom>
          <a:solidFill>
            <a:srgbClr val="CFEAE3"/>
          </a:solidFill>
          <a:ln/>
          <a:effectLst>
            <a:outerShdw blurRad="101600" dist="25400" dir="5400000" algn="bl" rotWithShape="0">
              <a:srgbClr val="1B3A3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51560" y="4800600"/>
            <a:ext cx="960120" cy="960120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51560" y="4800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4937760"/>
            <a:ext cx="685800" cy="6858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37560" y="4343400"/>
            <a:ext cx="7955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asignaciones compatibles con materia, monitor y horario.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B5D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2148840"/>
          </a:xfrm>
          <a:prstGeom prst="roundRect">
            <a:avLst>
              <a:gd name="adj" fmla="val 4255"/>
            </a:avLst>
          </a:prstGeom>
          <a:solidFill>
            <a:srgbClr val="F7FAF9"/>
          </a:solidFill>
          <a:ln/>
          <a:effectLst>
            <a:outerShdw blurRad="101600" dist="25400" dir="5400000" algn="bl" rotWithShape="0">
              <a:srgbClr val="1B3A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86000"/>
            <a:ext cx="960120" cy="960120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2423160"/>
            <a:ext cx="685800" cy="685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37560" y="1828800"/>
            <a:ext cx="7955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búsquedas inmediatas por código de estudiante o monitor.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31520" y="4206240"/>
            <a:ext cx="10698480" cy="2148840"/>
          </a:xfrm>
          <a:prstGeom prst="roundRect">
            <a:avLst>
              <a:gd name="adj" fmla="val 4255"/>
            </a:avLst>
          </a:prstGeom>
          <a:solidFill>
            <a:srgbClr val="CFEAE3"/>
          </a:solidFill>
          <a:ln/>
          <a:effectLst>
            <a:outerShdw blurRad="101600" dist="25400" dir="5400000" algn="bl" rotWithShape="0">
              <a:srgbClr val="1B3A3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51560" y="4800600"/>
            <a:ext cx="960120" cy="960120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51560" y="4800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4937760"/>
            <a:ext cx="685800" cy="6858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37560" y="4343400"/>
            <a:ext cx="7955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las materias por área y nivel mediante una estructura jerárquica.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B5D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2148840"/>
          </a:xfrm>
          <a:prstGeom prst="roundRect">
            <a:avLst>
              <a:gd name="adj" fmla="val 4255"/>
            </a:avLst>
          </a:prstGeom>
          <a:solidFill>
            <a:srgbClr val="F7FAF9"/>
          </a:solidFill>
          <a:ln/>
          <a:effectLst>
            <a:outerShdw blurRad="101600" dist="25400" dir="5400000" algn="bl" rotWithShape="0">
              <a:srgbClr val="1B3A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86000"/>
            <a:ext cx="960120" cy="960120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2423160"/>
            <a:ext cx="685800" cy="685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37560" y="1828800"/>
            <a:ext cx="7955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y consultar la red de prerrequisitos entre materias.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31520" y="4206240"/>
            <a:ext cx="10698480" cy="2148840"/>
          </a:xfrm>
          <a:prstGeom prst="roundRect">
            <a:avLst>
              <a:gd name="adj" fmla="val 4255"/>
            </a:avLst>
          </a:prstGeom>
          <a:solidFill>
            <a:srgbClr val="CFEAE3"/>
          </a:solidFill>
          <a:ln/>
          <a:effectLst>
            <a:outerShdw blurRad="101600" dist="25400" dir="5400000" algn="bl" rotWithShape="0">
              <a:srgbClr val="1B3A3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51560" y="4800600"/>
            <a:ext cx="960120" cy="960120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51560" y="4800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4937760"/>
            <a:ext cx="685800" cy="6858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37560" y="4343400"/>
            <a:ext cx="7955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una agenda semanal que evite cruces de horario.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B5D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2148840"/>
          </a:xfrm>
          <a:prstGeom prst="roundRect">
            <a:avLst>
              <a:gd name="adj" fmla="val 4255"/>
            </a:avLst>
          </a:prstGeom>
          <a:solidFill>
            <a:srgbClr val="F7FAF9"/>
          </a:solidFill>
          <a:ln/>
          <a:effectLst>
            <a:outerShdw blurRad="101600" dist="25400" dir="5400000" algn="bl" rotWithShape="0">
              <a:srgbClr val="1B3A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86000"/>
            <a:ext cx="960120" cy="960120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2423160"/>
            <a:ext cx="685800" cy="685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37560" y="1828800"/>
            <a:ext cx="7955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un informe de cobertura del programa.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229</Words>
  <Application>Microsoft Office PowerPoint</Application>
  <PresentationFormat>Panorámica</PresentationFormat>
  <Paragraphs>39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Bahnschrift Light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sergio rios</cp:lastModifiedBy>
  <cp:revision>2</cp:revision>
  <dcterms:created xsi:type="dcterms:W3CDTF">2026-09-02T03:38:39Z</dcterms:created>
  <dcterms:modified xsi:type="dcterms:W3CDTF">2026-09-04T02:11:26Z</dcterms:modified>
</cp:coreProperties>
</file>